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66" r:id="rId6"/>
    <p:sldId id="267" r:id="rId7"/>
    <p:sldId id="268" r:id="rId8"/>
    <p:sldId id="265" r:id="rId9"/>
    <p:sldId id="270" r:id="rId10"/>
    <p:sldId id="271"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5/15/2025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5/15/2025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5/15/2025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5/15/2025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5/15/2025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5/15/2025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5/15/2025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5/15/2025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5/15/2025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5/15/2025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5/15/2025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5/15/2025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639097"/>
            <a:ext cx="6253317" cy="3686015"/>
          </a:xfrm>
        </p:spPr>
        <p:txBody>
          <a:bodyPr>
            <a:normAutofit/>
          </a:bodyPr>
          <a:lstStyle/>
          <a:p>
            <a:r>
              <a:rPr lang="en-IN" sz="7200" b="1" i="0" u="none" strike="noStrike" dirty="0" err="1">
                <a:solidFill>
                  <a:srgbClr val="000000"/>
                </a:solidFill>
                <a:effectLst/>
                <a:latin typeface="Bahnschrift SemiBold" panose="020B0502040204020203" pitchFamily="34" charset="0"/>
              </a:rPr>
              <a:t>PhonePe</a:t>
            </a:r>
            <a:r>
              <a:rPr lang="en-IN" sz="7200" b="1" i="0" u="none" strike="noStrike" dirty="0">
                <a:solidFill>
                  <a:srgbClr val="000000"/>
                </a:solidFill>
                <a:effectLst/>
                <a:latin typeface="Bahnschrift SemiBold" panose="020B0502040204020203" pitchFamily="34" charset="0"/>
              </a:rPr>
              <a:t> Transaction Insights</a:t>
            </a:r>
            <a:endParaRPr lang="en-US" sz="59500" b="1" dirty="0">
              <a:solidFill>
                <a:schemeClr val="tx1">
                  <a:lumMod val="95000"/>
                  <a:lumOff val="5000"/>
                </a:schemeClr>
              </a:solidFill>
              <a:latin typeface="Bahnschrift SemiBold" panose="020B0502040204020203" pitchFamily="34" charset="0"/>
            </a:endParaRPr>
          </a:p>
        </p:txBody>
      </p:sp>
      <p:sp>
        <p:nvSpPr>
          <p:cNvPr id="3" name="Subtitle 2">
            <a:extLst>
              <a:ext uri="{FF2B5EF4-FFF2-40B4-BE49-F238E27FC236}">
                <a16:creationId xmlns:a16="http://schemas.microsoft.com/office/drawing/2014/main" id="{A8E9CFF2-3777-4FF4-A759-8491175B0B7C}"/>
              </a:ext>
            </a:extLst>
          </p:cNvPr>
          <p:cNvSpPr>
            <a:spLocks noGrp="1"/>
          </p:cNvSpPr>
          <p:nvPr>
            <p:ph type="subTitle" idx="1"/>
          </p:nvPr>
        </p:nvSpPr>
        <p:spPr>
          <a:xfrm>
            <a:off x="5289753" y="4672739"/>
            <a:ext cx="6269347" cy="1021498"/>
          </a:xfrm>
        </p:spPr>
        <p:txBody>
          <a:bodyPr>
            <a:normAutofit/>
          </a:bodyPr>
          <a:lstStyle/>
          <a:p>
            <a:r>
              <a:rPr lang="en-US" sz="1600" dirty="0">
                <a:solidFill>
                  <a:schemeClr val="tx1">
                    <a:lumMod val="85000"/>
                    <a:lumOff val="15000"/>
                  </a:schemeClr>
                </a:solidFill>
              </a:rPr>
              <a:t>Done BY – Divya P</a:t>
            </a:r>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2032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302E1-5308-7859-38E4-AFC20EA6A743}"/>
              </a:ext>
            </a:extLst>
          </p:cNvPr>
          <p:cNvSpPr>
            <a:spLocks noGrp="1"/>
          </p:cNvSpPr>
          <p:nvPr>
            <p:ph type="title"/>
          </p:nvPr>
        </p:nvSpPr>
        <p:spPr/>
        <p:txBody>
          <a:bodyPr/>
          <a:lstStyle/>
          <a:p>
            <a:r>
              <a:rPr lang="en-US" sz="4800" b="1" i="0" u="sng" dirty="0">
                <a:solidFill>
                  <a:srgbClr val="000000"/>
                </a:solidFill>
                <a:effectLst/>
                <a:latin typeface="+mn-lt"/>
              </a:rPr>
              <a:t>Problem Statement:</a:t>
            </a:r>
            <a:br>
              <a:rPr lang="en-US" sz="1800" b="0" dirty="0">
                <a:effectLst/>
                <a:latin typeface="+mn-lt"/>
              </a:rPr>
            </a:br>
            <a:endParaRPr lang="en-IN" dirty="0"/>
          </a:p>
        </p:txBody>
      </p:sp>
      <p:sp>
        <p:nvSpPr>
          <p:cNvPr id="3" name="Content Placeholder 2">
            <a:extLst>
              <a:ext uri="{FF2B5EF4-FFF2-40B4-BE49-F238E27FC236}">
                <a16:creationId xmlns:a16="http://schemas.microsoft.com/office/drawing/2014/main" id="{5C9C7B95-296D-158F-EDB0-B2EFB01AB688}"/>
              </a:ext>
            </a:extLst>
          </p:cNvPr>
          <p:cNvSpPr>
            <a:spLocks noGrp="1"/>
          </p:cNvSpPr>
          <p:nvPr>
            <p:ph idx="1"/>
          </p:nvPr>
        </p:nvSpPr>
        <p:spPr/>
        <p:txBody>
          <a:bodyPr/>
          <a:lstStyle/>
          <a:p>
            <a:r>
              <a:rPr lang="en-US" sz="1800" b="0" i="0" u="none" strike="noStrike" dirty="0">
                <a:solidFill>
                  <a:srgbClr val="000000"/>
                </a:solidFill>
                <a:effectLst/>
                <a:latin typeface="Arial" panose="020B0604020202020204" pitchFamily="34" charset="0"/>
              </a:rPr>
              <a:t>With the increasing reliance on digital payment systems like </a:t>
            </a:r>
            <a:r>
              <a:rPr lang="en-US" sz="1800" b="0" i="0" u="none" strike="noStrike" dirty="0" err="1">
                <a:solidFill>
                  <a:srgbClr val="000000"/>
                </a:solidFill>
                <a:effectLst/>
                <a:latin typeface="Arial" panose="020B0604020202020204" pitchFamily="34" charset="0"/>
              </a:rPr>
              <a:t>PhonePe</a:t>
            </a:r>
            <a:r>
              <a:rPr lang="en-US" sz="1800" b="0" i="0" u="none" strike="noStrike" dirty="0">
                <a:solidFill>
                  <a:srgbClr val="000000"/>
                </a:solidFill>
                <a:effectLst/>
                <a:latin typeface="Arial" panose="020B0604020202020204" pitchFamily="34" charset="0"/>
              </a:rPr>
              <a:t>, understanding the dynamics of transactions, user engagement, and insurance-related data is crucial for improving services and targeting users effectively. This project aims to analyze and visualize aggregated values of payment categories, create maps for total values at state and district levels, and identify top-performing states, districts, and pin codes.</a:t>
            </a:r>
            <a:endParaRPr lang="en-IN" dirty="0"/>
          </a:p>
        </p:txBody>
      </p:sp>
    </p:spTree>
    <p:extLst>
      <p:ext uri="{BB962C8B-B14F-4D97-AF65-F5344CB8AC3E}">
        <p14:creationId xmlns:p14="http://schemas.microsoft.com/office/powerpoint/2010/main" val="218040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2D256-AA51-A90E-D80A-9F202DFF30E3}"/>
              </a:ext>
            </a:extLst>
          </p:cNvPr>
          <p:cNvSpPr>
            <a:spLocks noGrp="1"/>
          </p:cNvSpPr>
          <p:nvPr>
            <p:ph type="title"/>
          </p:nvPr>
        </p:nvSpPr>
        <p:spPr/>
        <p:txBody>
          <a:bodyPr/>
          <a:lstStyle/>
          <a:p>
            <a:r>
              <a:rPr lang="en-US" sz="4800" dirty="0">
                <a:solidFill>
                  <a:schemeClr val="tx1">
                    <a:lumMod val="95000"/>
                    <a:lumOff val="5000"/>
                  </a:schemeClr>
                </a:solidFill>
                <a:latin typeface="+mn-lt"/>
              </a:rPr>
              <a:t>🛠️ Tools &amp; Technologies</a:t>
            </a:r>
            <a:endParaRPr lang="en-IN" dirty="0"/>
          </a:p>
        </p:txBody>
      </p:sp>
      <p:sp>
        <p:nvSpPr>
          <p:cNvPr id="3" name="Content Placeholder 2">
            <a:extLst>
              <a:ext uri="{FF2B5EF4-FFF2-40B4-BE49-F238E27FC236}">
                <a16:creationId xmlns:a16="http://schemas.microsoft.com/office/drawing/2014/main" id="{E1A56CEF-E721-BC60-9A72-D40584A92F98}"/>
              </a:ext>
            </a:extLst>
          </p:cNvPr>
          <p:cNvSpPr>
            <a:spLocks noGrp="1"/>
          </p:cNvSpPr>
          <p:nvPr>
            <p:ph idx="1"/>
          </p:nvPr>
        </p:nvSpPr>
        <p:spPr/>
        <p:txBody>
          <a:bodyPr>
            <a:normAutofit/>
          </a:bodyPr>
          <a:lstStyle/>
          <a:p>
            <a:endParaRPr lang="en-US" sz="1800" b="1" i="0" u="none" strike="noStrike" dirty="0">
              <a:solidFill>
                <a:srgbClr val="000000"/>
              </a:solidFill>
              <a:effectLst/>
              <a:latin typeface="Arial" panose="020B0604020202020204" pitchFamily="34" charset="0"/>
            </a:endParaRPr>
          </a:p>
          <a:p>
            <a:r>
              <a:rPr lang="en-US" sz="1800" i="0" u="none" strike="noStrike" dirty="0">
                <a:solidFill>
                  <a:srgbClr val="000000"/>
                </a:solidFill>
                <a:effectLst/>
                <a:latin typeface="Arial" panose="020B0604020202020204" pitchFamily="34" charset="0"/>
              </a:rPr>
              <a:t>1.SQL (MySQL/PostgreSQL) and </a:t>
            </a:r>
            <a:r>
              <a:rPr lang="en-US" sz="1800" i="0" u="none" strike="noStrike" dirty="0" err="1">
                <a:solidFill>
                  <a:srgbClr val="000000"/>
                </a:solidFill>
                <a:effectLst/>
                <a:latin typeface="Arial" panose="020B0604020202020204" pitchFamily="34" charset="0"/>
              </a:rPr>
              <a:t>colab</a:t>
            </a:r>
            <a:r>
              <a:rPr lang="en-US" sz="1800" i="0" u="none" strike="noStrike" dirty="0">
                <a:solidFill>
                  <a:srgbClr val="000000"/>
                </a:solidFill>
                <a:effectLst/>
                <a:latin typeface="Arial" panose="020B0604020202020204" pitchFamily="34" charset="0"/>
              </a:rPr>
              <a:t> for data extraction from </a:t>
            </a:r>
            <a:r>
              <a:rPr lang="en-US" sz="1800" i="0" u="none" strike="noStrike" dirty="0" err="1">
                <a:solidFill>
                  <a:srgbClr val="000000"/>
                </a:solidFill>
                <a:effectLst/>
                <a:latin typeface="Arial" panose="020B0604020202020204" pitchFamily="34" charset="0"/>
              </a:rPr>
              <a:t>json</a:t>
            </a:r>
            <a:r>
              <a:rPr lang="en-US" sz="1800" i="0" u="none" strike="noStrike" dirty="0">
                <a:solidFill>
                  <a:srgbClr val="000000"/>
                </a:solidFill>
                <a:effectLst/>
                <a:latin typeface="Arial" panose="020B0604020202020204" pitchFamily="34" charset="0"/>
              </a:rPr>
              <a:t> file, transformation, and analysis. </a:t>
            </a:r>
          </a:p>
          <a:p>
            <a:r>
              <a:rPr lang="en-US" sz="1800" i="0" u="none" strike="noStrike" dirty="0">
                <a:solidFill>
                  <a:srgbClr val="000000"/>
                </a:solidFill>
                <a:effectLst/>
                <a:latin typeface="Arial" panose="020B0604020202020204" pitchFamily="34" charset="0"/>
              </a:rPr>
              <a:t>2.Python (pandas, </a:t>
            </a:r>
            <a:r>
              <a:rPr lang="en-US" sz="1800" i="0" u="none" strike="noStrike" dirty="0" err="1">
                <a:solidFill>
                  <a:srgbClr val="000000"/>
                </a:solidFill>
                <a:effectLst/>
                <a:latin typeface="Arial" panose="020B0604020202020204" pitchFamily="34" charset="0"/>
              </a:rPr>
              <a:t>SQLAlchemy</a:t>
            </a:r>
            <a:r>
              <a:rPr lang="en-US" sz="1800" i="0" u="none" strike="noStrike" dirty="0">
                <a:solidFill>
                  <a:srgbClr val="000000"/>
                </a:solidFill>
                <a:effectLst/>
                <a:latin typeface="Arial" panose="020B0604020202020204" pitchFamily="34" charset="0"/>
              </a:rPr>
              <a:t>, MySQL-connector) for automation.</a:t>
            </a:r>
          </a:p>
          <a:p>
            <a:r>
              <a:rPr lang="en-US" sz="1800" i="0" u="none" strike="noStrike" dirty="0">
                <a:solidFill>
                  <a:srgbClr val="000000"/>
                </a:solidFill>
                <a:effectLst/>
                <a:latin typeface="Arial" panose="020B0604020202020204" pitchFamily="34" charset="0"/>
              </a:rPr>
              <a:t>3.VS code and </a:t>
            </a:r>
            <a:r>
              <a:rPr lang="en-US" sz="1800" i="0" u="none" strike="noStrike" dirty="0" err="1">
                <a:solidFill>
                  <a:srgbClr val="000000"/>
                </a:solidFill>
                <a:effectLst/>
                <a:latin typeface="Arial" panose="020B0604020202020204" pitchFamily="34" charset="0"/>
              </a:rPr>
              <a:t>Streamlit</a:t>
            </a:r>
            <a:r>
              <a:rPr lang="en-US" sz="1800" i="0" u="none" strike="noStrike" dirty="0">
                <a:solidFill>
                  <a:srgbClr val="000000"/>
                </a:solidFill>
                <a:effectLst/>
                <a:latin typeface="Arial" panose="020B0604020202020204" pitchFamily="34" charset="0"/>
              </a:rPr>
              <a:t> for visualization </a:t>
            </a:r>
          </a:p>
          <a:p>
            <a:r>
              <a:rPr lang="en-US" sz="1800" i="0" u="none" strike="noStrike" dirty="0">
                <a:solidFill>
                  <a:srgbClr val="000000"/>
                </a:solidFill>
                <a:effectLst/>
                <a:latin typeface="Arial" panose="020B0604020202020204" pitchFamily="34" charset="0"/>
              </a:rPr>
              <a:t>4. Power BI for visualization </a:t>
            </a:r>
          </a:p>
          <a:p>
            <a:r>
              <a:rPr lang="en-US" sz="1800" i="0" u="none" strike="noStrike" dirty="0">
                <a:solidFill>
                  <a:srgbClr val="000000"/>
                </a:solidFill>
                <a:effectLst/>
                <a:latin typeface="Arial" panose="020B0604020202020204" pitchFamily="34" charset="0"/>
              </a:rPr>
              <a:t>5.Git &amp; GitHub for version control and collaboration</a:t>
            </a:r>
            <a:endParaRPr lang="en-US" sz="1800" dirty="0">
              <a:solidFill>
                <a:srgbClr val="000000"/>
              </a:solidFill>
              <a:latin typeface="Arial" panose="020B0604020202020204" pitchFamily="34" charset="0"/>
            </a:endParaRPr>
          </a:p>
          <a:p>
            <a:pPr marL="0" indent="0">
              <a:buNone/>
            </a:pPr>
            <a:endParaRPr lang="en-IN" dirty="0">
              <a:highlight>
                <a:srgbClr val="FFFF00"/>
              </a:highlight>
            </a:endParaRPr>
          </a:p>
        </p:txBody>
      </p:sp>
    </p:spTree>
    <p:extLst>
      <p:ext uri="{BB962C8B-B14F-4D97-AF65-F5344CB8AC3E}">
        <p14:creationId xmlns:p14="http://schemas.microsoft.com/office/powerpoint/2010/main" val="1774142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9CB06-3A43-4E27-0464-10AE7CA3EA54}"/>
              </a:ext>
            </a:extLst>
          </p:cNvPr>
          <p:cNvSpPr>
            <a:spLocks noGrp="1"/>
          </p:cNvSpPr>
          <p:nvPr>
            <p:ph type="title"/>
          </p:nvPr>
        </p:nvSpPr>
        <p:spPr/>
        <p:txBody>
          <a:bodyPr>
            <a:normAutofit/>
          </a:bodyPr>
          <a:lstStyle/>
          <a:p>
            <a:r>
              <a:rPr lang="en-US" sz="3600" b="1" dirty="0">
                <a:solidFill>
                  <a:schemeClr val="tx1">
                    <a:lumMod val="95000"/>
                    <a:lumOff val="5000"/>
                  </a:schemeClr>
                </a:solidFill>
                <a:latin typeface="+mn-lt"/>
                <a:cs typeface="Arial" panose="020B0604020202020204" pitchFamily="34" charset="0"/>
              </a:rPr>
              <a:t>Techniques Used to solve the problem statement:</a:t>
            </a:r>
            <a:br>
              <a:rPr lang="en-US" sz="4800" dirty="0">
                <a:solidFill>
                  <a:schemeClr val="tx1">
                    <a:lumMod val="95000"/>
                    <a:lumOff val="5000"/>
                  </a:schemeClr>
                </a:solidFill>
                <a:latin typeface="+mn-lt"/>
                <a:cs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4C9CBEC9-EAE1-8FE0-CE7F-D99F04DA86CA}"/>
              </a:ext>
            </a:extLst>
          </p:cNvPr>
          <p:cNvSpPr>
            <a:spLocks noGrp="1"/>
          </p:cNvSpPr>
          <p:nvPr>
            <p:ph idx="1"/>
          </p:nvPr>
        </p:nvSpPr>
        <p:spPr/>
        <p:txBody>
          <a:bodyPr>
            <a:normAutofit fontScale="92500" lnSpcReduction="10000"/>
          </a:bodyPr>
          <a:lstStyle/>
          <a:p>
            <a:r>
              <a:rPr lang="en-IN" sz="2000" dirty="0"/>
              <a:t>1.Used </a:t>
            </a:r>
            <a:r>
              <a:rPr lang="en-IN" sz="2000" dirty="0" err="1"/>
              <a:t>mysql.connector</a:t>
            </a:r>
            <a:r>
              <a:rPr lang="en-IN" sz="2000" dirty="0"/>
              <a:t>, pandas, </a:t>
            </a:r>
            <a:r>
              <a:rPr lang="en-IN" sz="2000" dirty="0" err="1"/>
              <a:t>sqlalchemy</a:t>
            </a:r>
            <a:r>
              <a:rPr lang="en-IN" sz="2000" dirty="0"/>
              <a:t>, google </a:t>
            </a:r>
            <a:r>
              <a:rPr lang="en-IN" sz="2000" dirty="0" err="1"/>
              <a:t>colab</a:t>
            </a:r>
            <a:r>
              <a:rPr lang="en-IN" sz="2000" dirty="0"/>
              <a:t> for </a:t>
            </a:r>
            <a:r>
              <a:rPr lang="en-IN" sz="2000" dirty="0" err="1"/>
              <a:t>json</a:t>
            </a:r>
            <a:r>
              <a:rPr lang="en-IN" sz="2000" dirty="0"/>
              <a:t> data extraction in python.</a:t>
            </a:r>
          </a:p>
          <a:p>
            <a:r>
              <a:rPr lang="en-IN" sz="2000" dirty="0"/>
              <a:t>2.Incorporated the connection string.</a:t>
            </a:r>
          </a:p>
          <a:p>
            <a:r>
              <a:rPr lang="en-IN" sz="2000" dirty="0"/>
              <a:t>3.Data Pre processing done:  </a:t>
            </a:r>
          </a:p>
          <a:p>
            <a:r>
              <a:rPr lang="en-IN" sz="2000" dirty="0"/>
              <a:t>	</a:t>
            </a:r>
            <a:r>
              <a:rPr lang="en-IN" sz="2000" dirty="0" err="1"/>
              <a:t>df.describe</a:t>
            </a:r>
            <a:r>
              <a:rPr lang="en-IN" sz="2000" dirty="0"/>
              <a:t>()   </a:t>
            </a:r>
          </a:p>
          <a:p>
            <a:r>
              <a:rPr lang="en-IN" sz="2000" dirty="0"/>
              <a:t>	</a:t>
            </a:r>
            <a:r>
              <a:rPr lang="en-IN" sz="2000" dirty="0" err="1"/>
              <a:t>df.isnull</a:t>
            </a:r>
            <a:r>
              <a:rPr lang="en-IN" sz="2000" dirty="0"/>
              <a:t>().sum()  - Missing values check done.  </a:t>
            </a:r>
          </a:p>
          <a:p>
            <a:r>
              <a:rPr lang="en-IN" sz="2000" dirty="0"/>
              <a:t>	df.info() - Datatype check done.</a:t>
            </a:r>
          </a:p>
          <a:p>
            <a:r>
              <a:rPr lang="en-IN" sz="2000" dirty="0"/>
              <a:t>4.Used Windows Functions and CTE Functions to handle the data.</a:t>
            </a:r>
          </a:p>
          <a:p>
            <a:r>
              <a:rPr lang="en-IN" sz="2000" dirty="0"/>
              <a:t>5.Used </a:t>
            </a:r>
            <a:r>
              <a:rPr lang="en-IN" sz="2000" dirty="0" err="1"/>
              <a:t>Streamlit</a:t>
            </a:r>
            <a:r>
              <a:rPr lang="en-IN" sz="2000" dirty="0"/>
              <a:t>  and </a:t>
            </a:r>
            <a:r>
              <a:rPr lang="en-IN" sz="2000" dirty="0" err="1"/>
              <a:t>PowerBI</a:t>
            </a:r>
            <a:r>
              <a:rPr lang="en-IN" sz="2000" dirty="0"/>
              <a:t> for data visualization.</a:t>
            </a:r>
          </a:p>
          <a:p>
            <a:endParaRPr lang="en-IN" sz="2000" dirty="0"/>
          </a:p>
        </p:txBody>
      </p:sp>
    </p:spTree>
    <p:extLst>
      <p:ext uri="{BB962C8B-B14F-4D97-AF65-F5344CB8AC3E}">
        <p14:creationId xmlns:p14="http://schemas.microsoft.com/office/powerpoint/2010/main" val="1081101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3ACD8-BEE6-E567-59EC-BDD6974E493D}"/>
              </a:ext>
            </a:extLst>
          </p:cNvPr>
          <p:cNvSpPr>
            <a:spLocks noGrp="1"/>
          </p:cNvSpPr>
          <p:nvPr>
            <p:ph type="title"/>
          </p:nvPr>
        </p:nvSpPr>
        <p:spPr/>
        <p:txBody>
          <a:bodyPr/>
          <a:lstStyle/>
          <a:p>
            <a:r>
              <a:rPr lang="en-US" sz="4800" b="1" dirty="0"/>
              <a:t>Key Findings &amp; Insights</a:t>
            </a:r>
            <a:endParaRPr lang="en-IN" dirty="0"/>
          </a:p>
        </p:txBody>
      </p:sp>
      <p:sp>
        <p:nvSpPr>
          <p:cNvPr id="4" name="TextBox 3">
            <a:extLst>
              <a:ext uri="{FF2B5EF4-FFF2-40B4-BE49-F238E27FC236}">
                <a16:creationId xmlns:a16="http://schemas.microsoft.com/office/drawing/2014/main" id="{CC531EAF-BEF2-2541-648B-1AE349D6C568}"/>
              </a:ext>
            </a:extLst>
          </p:cNvPr>
          <p:cNvSpPr txBox="1"/>
          <p:nvPr/>
        </p:nvSpPr>
        <p:spPr>
          <a:xfrm>
            <a:off x="737419" y="2047021"/>
            <a:ext cx="9628891" cy="3970318"/>
          </a:xfrm>
          <a:prstGeom prst="rect">
            <a:avLst/>
          </a:prstGeom>
          <a:noFill/>
        </p:spPr>
        <p:txBody>
          <a:bodyPr wrap="square">
            <a:spAutoFit/>
          </a:bodyPr>
          <a:lstStyle/>
          <a:p>
            <a:r>
              <a:rPr lang="en-IN" dirty="0"/>
              <a:t>1. </a:t>
            </a:r>
            <a:r>
              <a:rPr lang="en-IN" b="1" dirty="0"/>
              <a:t>Decoding Transaction Dynamics</a:t>
            </a:r>
            <a:br>
              <a:rPr lang="en-US" sz="1800" dirty="0"/>
            </a:br>
            <a:r>
              <a:rPr lang="en-US" b="1" dirty="0"/>
              <a:t>Key Insights:</a:t>
            </a:r>
          </a:p>
          <a:p>
            <a:pPr marL="285750" indent="-285750">
              <a:buFont typeface="Arial" panose="020B0604020202020204" pitchFamily="34" charset="0"/>
              <a:buChar char="•"/>
            </a:pPr>
            <a:r>
              <a:rPr lang="en-US" dirty="0"/>
              <a:t>Variations in transaction behavior across regions, quarters, and payment categories.</a:t>
            </a:r>
          </a:p>
          <a:p>
            <a:r>
              <a:rPr lang="en-IN" b="1" dirty="0"/>
              <a:t>Recommendations:</a:t>
            </a:r>
          </a:p>
          <a:p>
            <a:pPr marL="285750" indent="-285750">
              <a:buFont typeface="Arial" panose="020B0604020202020204" pitchFamily="34" charset="0"/>
              <a:buChar char="•"/>
            </a:pPr>
            <a:r>
              <a:rPr lang="en-US" dirty="0"/>
              <a:t>Category Optimization: Prioritize underperforming transaction categories.</a:t>
            </a:r>
          </a:p>
          <a:p>
            <a:pPr marL="285750" indent="-285750">
              <a:buFont typeface="Arial" panose="020B0604020202020204" pitchFamily="34" charset="0"/>
              <a:buChar char="•"/>
            </a:pPr>
            <a:r>
              <a:rPr lang="en-US" dirty="0"/>
              <a:t>Regional Strategy: Focus on regions with declining transaction volumes through targeted marketing</a:t>
            </a:r>
          </a:p>
          <a:p>
            <a:pPr marL="285750" indent="-285750">
              <a:buFont typeface="Arial" panose="020B0604020202020204" pitchFamily="34" charset="0"/>
              <a:buChar char="•"/>
            </a:pPr>
            <a:endParaRPr lang="en-US" dirty="0"/>
          </a:p>
          <a:p>
            <a:r>
              <a:rPr lang="fr-FR" dirty="0"/>
              <a:t>2. </a:t>
            </a:r>
            <a:r>
              <a:rPr lang="fr-FR" dirty="0" err="1"/>
              <a:t>Device</a:t>
            </a:r>
            <a:r>
              <a:rPr lang="fr-FR" dirty="0"/>
              <a:t> Dominance and User Engagement</a:t>
            </a:r>
          </a:p>
          <a:p>
            <a:r>
              <a:rPr lang="en-US" b="1" dirty="0"/>
              <a:t>Key Insights:</a:t>
            </a:r>
          </a:p>
          <a:p>
            <a:r>
              <a:rPr lang="en-US" dirty="0"/>
              <a:t>Disparities in app usage across different device brands and regions</a:t>
            </a:r>
          </a:p>
          <a:p>
            <a:r>
              <a:rPr lang="en-IN" b="1" dirty="0"/>
              <a:t>Recommendations:</a:t>
            </a:r>
          </a:p>
          <a:p>
            <a:pPr marL="285750" indent="-285750">
              <a:buFont typeface="Arial" panose="020B0604020202020204" pitchFamily="34" charset="0"/>
              <a:buChar char="•"/>
            </a:pPr>
            <a:r>
              <a:rPr lang="en-US" dirty="0"/>
              <a:t>Partnership Opportunities: Collaborate with device manufacturers for promotions.</a:t>
            </a:r>
          </a:p>
          <a:p>
            <a:endParaRPr lang="en-IN" dirty="0"/>
          </a:p>
        </p:txBody>
      </p:sp>
    </p:spTree>
    <p:extLst>
      <p:ext uri="{BB962C8B-B14F-4D97-AF65-F5344CB8AC3E}">
        <p14:creationId xmlns:p14="http://schemas.microsoft.com/office/powerpoint/2010/main" val="2124238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9BE50-29DD-F274-3DA8-4DD1285D12B5}"/>
              </a:ext>
            </a:extLst>
          </p:cNvPr>
          <p:cNvSpPr>
            <a:spLocks noGrp="1"/>
          </p:cNvSpPr>
          <p:nvPr>
            <p:ph type="title"/>
          </p:nvPr>
        </p:nvSpPr>
        <p:spPr/>
        <p:txBody>
          <a:bodyPr/>
          <a:lstStyle/>
          <a:p>
            <a:r>
              <a:rPr lang="en-US" sz="4400" b="1" dirty="0"/>
              <a:t>Key Findings &amp; Insights</a:t>
            </a:r>
            <a:endParaRPr lang="en-IN" dirty="0"/>
          </a:p>
        </p:txBody>
      </p:sp>
      <p:sp>
        <p:nvSpPr>
          <p:cNvPr id="3" name="TextBox 2">
            <a:extLst>
              <a:ext uri="{FF2B5EF4-FFF2-40B4-BE49-F238E27FC236}">
                <a16:creationId xmlns:a16="http://schemas.microsoft.com/office/drawing/2014/main" id="{B2C442C7-92D7-F03D-A4EE-462BEF1243C9}"/>
              </a:ext>
            </a:extLst>
          </p:cNvPr>
          <p:cNvSpPr txBox="1"/>
          <p:nvPr/>
        </p:nvSpPr>
        <p:spPr>
          <a:xfrm>
            <a:off x="1008007" y="2289617"/>
            <a:ext cx="9628891" cy="3416320"/>
          </a:xfrm>
          <a:prstGeom prst="rect">
            <a:avLst/>
          </a:prstGeom>
          <a:noFill/>
        </p:spPr>
        <p:txBody>
          <a:bodyPr wrap="square">
            <a:spAutoFit/>
          </a:bodyPr>
          <a:lstStyle/>
          <a:p>
            <a:r>
              <a:rPr lang="en-US" b="1" dirty="0"/>
              <a:t>3. Insurance Penetration and Growth Potential</a:t>
            </a:r>
            <a:br>
              <a:rPr lang="en-US" sz="1800" dirty="0"/>
            </a:br>
            <a:r>
              <a:rPr lang="en-US" b="1" dirty="0"/>
              <a:t>Key Insights:</a:t>
            </a:r>
          </a:p>
          <a:p>
            <a:pPr marL="285750" indent="-285750">
              <a:buFont typeface="Arial" panose="020B0604020202020204" pitchFamily="34" charset="0"/>
              <a:buChar char="•"/>
            </a:pPr>
            <a:r>
              <a:rPr lang="en-US" dirty="0"/>
              <a:t>Uneven insurance adoption across states.</a:t>
            </a:r>
            <a:endParaRPr lang="en-IN" b="1" dirty="0"/>
          </a:p>
          <a:p>
            <a:r>
              <a:rPr lang="en-IN" b="1" dirty="0"/>
              <a:t>Recommendations:</a:t>
            </a:r>
          </a:p>
          <a:p>
            <a:pPr marL="285750" indent="-285750">
              <a:buFont typeface="Arial" panose="020B0604020202020204" pitchFamily="34" charset="0"/>
              <a:buChar char="•"/>
            </a:pPr>
            <a:r>
              <a:rPr lang="en-US" dirty="0"/>
              <a:t>Product Customization: Develop state-specific insurance products.</a:t>
            </a:r>
          </a:p>
          <a:p>
            <a:endParaRPr lang="en-US" dirty="0"/>
          </a:p>
          <a:p>
            <a:r>
              <a:rPr lang="en-US" dirty="0"/>
              <a:t> </a:t>
            </a:r>
            <a:r>
              <a:rPr lang="en-US" b="1" dirty="0"/>
              <a:t>4. User Engagement and Growth Strategy</a:t>
            </a:r>
          </a:p>
          <a:p>
            <a:r>
              <a:rPr lang="en-US" b="1" dirty="0"/>
              <a:t>Key Insights:</a:t>
            </a:r>
          </a:p>
          <a:p>
            <a:pPr marL="285750" indent="-285750">
              <a:buFont typeface="Arial" panose="020B0604020202020204" pitchFamily="34" charset="0"/>
              <a:buChar char="•"/>
            </a:pPr>
            <a:r>
              <a:rPr lang="en-US" dirty="0"/>
              <a:t>High registration but varied user engagement across states.</a:t>
            </a:r>
          </a:p>
          <a:p>
            <a:r>
              <a:rPr lang="en-IN" b="1" dirty="0"/>
              <a:t>Recommendations:</a:t>
            </a:r>
          </a:p>
          <a:p>
            <a:pPr marL="285750" indent="-285750">
              <a:buFont typeface="Arial" panose="020B0604020202020204" pitchFamily="34" charset="0"/>
              <a:buChar char="•"/>
            </a:pPr>
            <a:r>
              <a:rPr lang="en-US" dirty="0"/>
              <a:t>Gamification and Rewards: Implement gamified engagement strategies.</a:t>
            </a:r>
          </a:p>
          <a:p>
            <a:endParaRPr lang="en-IN" dirty="0"/>
          </a:p>
        </p:txBody>
      </p:sp>
    </p:spTree>
    <p:extLst>
      <p:ext uri="{BB962C8B-B14F-4D97-AF65-F5344CB8AC3E}">
        <p14:creationId xmlns:p14="http://schemas.microsoft.com/office/powerpoint/2010/main" val="1813573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C72BD-A9B5-3325-9479-A9EDE94D03DF}"/>
              </a:ext>
            </a:extLst>
          </p:cNvPr>
          <p:cNvSpPr>
            <a:spLocks noGrp="1"/>
          </p:cNvSpPr>
          <p:nvPr>
            <p:ph type="title"/>
          </p:nvPr>
        </p:nvSpPr>
        <p:spPr/>
        <p:txBody>
          <a:bodyPr/>
          <a:lstStyle/>
          <a:p>
            <a:r>
              <a:rPr lang="en-US" sz="4800" b="1" dirty="0"/>
              <a:t>Key Findings &amp; Insights</a:t>
            </a:r>
            <a:endParaRPr lang="en-IN" dirty="0"/>
          </a:p>
        </p:txBody>
      </p:sp>
      <p:sp>
        <p:nvSpPr>
          <p:cNvPr id="4" name="TextBox 3">
            <a:extLst>
              <a:ext uri="{FF2B5EF4-FFF2-40B4-BE49-F238E27FC236}">
                <a16:creationId xmlns:a16="http://schemas.microsoft.com/office/drawing/2014/main" id="{1466B493-68FB-ED05-DF98-F7CB9443081C}"/>
              </a:ext>
            </a:extLst>
          </p:cNvPr>
          <p:cNvSpPr txBox="1"/>
          <p:nvPr/>
        </p:nvSpPr>
        <p:spPr>
          <a:xfrm>
            <a:off x="1097280" y="2208636"/>
            <a:ext cx="6097554" cy="2585323"/>
          </a:xfrm>
          <a:prstGeom prst="rect">
            <a:avLst/>
          </a:prstGeom>
          <a:noFill/>
        </p:spPr>
        <p:txBody>
          <a:bodyPr wrap="square">
            <a:spAutoFit/>
          </a:bodyPr>
          <a:lstStyle/>
          <a:p>
            <a:r>
              <a:rPr lang="en-IN" b="1" dirty="0"/>
              <a:t>5. User Registration Analysis</a:t>
            </a:r>
          </a:p>
          <a:p>
            <a:endParaRPr lang="en-IN" dirty="0"/>
          </a:p>
          <a:p>
            <a:r>
              <a:rPr lang="en-US" b="1" dirty="0"/>
              <a:t>Key Insights:</a:t>
            </a:r>
          </a:p>
          <a:p>
            <a:pPr marL="285750" indent="-285750">
              <a:buFont typeface="Arial" panose="020B0604020202020204" pitchFamily="34" charset="0"/>
              <a:buChar char="•"/>
            </a:pPr>
            <a:r>
              <a:rPr lang="en-US" dirty="0"/>
              <a:t>High regional variance in user registration rates.</a:t>
            </a:r>
          </a:p>
          <a:p>
            <a:endParaRPr lang="en-IN" b="1" dirty="0"/>
          </a:p>
          <a:p>
            <a:r>
              <a:rPr lang="en-IN" b="1" dirty="0"/>
              <a:t>Recommendations</a:t>
            </a:r>
          </a:p>
          <a:p>
            <a:pPr marL="285750" indent="-285750">
              <a:buFont typeface="Arial" panose="020B0604020202020204" pitchFamily="34" charset="0"/>
              <a:buChar char="•"/>
            </a:pPr>
            <a:r>
              <a:rPr lang="en-US" dirty="0"/>
              <a:t>Referral Programs: Amplify referral programs in top registration regions.</a:t>
            </a:r>
          </a:p>
          <a:p>
            <a:endParaRPr lang="en-IN" dirty="0"/>
          </a:p>
        </p:txBody>
      </p:sp>
    </p:spTree>
    <p:extLst>
      <p:ext uri="{BB962C8B-B14F-4D97-AF65-F5344CB8AC3E}">
        <p14:creationId xmlns:p14="http://schemas.microsoft.com/office/powerpoint/2010/main" val="1671277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C24B9-7BAF-E288-5980-2F7F438B70BB}"/>
              </a:ext>
            </a:extLst>
          </p:cNvPr>
          <p:cNvSpPr>
            <a:spLocks noGrp="1"/>
          </p:cNvSpPr>
          <p:nvPr>
            <p:ph type="title"/>
          </p:nvPr>
        </p:nvSpPr>
        <p:spPr/>
        <p:txBody>
          <a:bodyPr>
            <a:normAutofit/>
          </a:bodyPr>
          <a:lstStyle/>
          <a:p>
            <a:r>
              <a:rPr lang="en-US" sz="3200" b="1" dirty="0"/>
              <a:t>Business Recommendations</a:t>
            </a:r>
            <a:endParaRPr lang="en-IN" sz="3200" dirty="0"/>
          </a:p>
        </p:txBody>
      </p:sp>
      <p:sp>
        <p:nvSpPr>
          <p:cNvPr id="3" name="Content Placeholder 2">
            <a:extLst>
              <a:ext uri="{FF2B5EF4-FFF2-40B4-BE49-F238E27FC236}">
                <a16:creationId xmlns:a16="http://schemas.microsoft.com/office/drawing/2014/main" id="{F7A03EDF-3499-C6A8-079F-051C402DC19C}"/>
              </a:ext>
            </a:extLst>
          </p:cNvPr>
          <p:cNvSpPr>
            <a:spLocks noGrp="1"/>
          </p:cNvSpPr>
          <p:nvPr>
            <p:ph idx="1"/>
          </p:nvPr>
        </p:nvSpPr>
        <p:spPr/>
        <p:txBody>
          <a:bodyPr>
            <a:normAutofit/>
          </a:bodyPr>
          <a:lstStyle/>
          <a:p>
            <a:r>
              <a:rPr lang="en-US" b="1" dirty="0"/>
              <a:t>In Summary:</a:t>
            </a:r>
          </a:p>
          <a:p>
            <a:pPr marL="457200" indent="-457200">
              <a:buFont typeface="+mj-lt"/>
              <a:buAutoNum type="arabicPeriod"/>
            </a:pPr>
            <a:r>
              <a:rPr lang="en-US" dirty="0"/>
              <a:t>Focus on region-specific strategies for transaction growth.</a:t>
            </a:r>
          </a:p>
          <a:p>
            <a:pPr marL="457200" indent="-457200">
              <a:buFont typeface="+mj-lt"/>
              <a:buAutoNum type="arabicPeriod"/>
            </a:pPr>
            <a:r>
              <a:rPr lang="en-US" dirty="0"/>
              <a:t>Optimize device-specific engagement.</a:t>
            </a:r>
          </a:p>
          <a:p>
            <a:r>
              <a:rPr lang="en-US" b="1" dirty="0"/>
              <a:t>Next Steps:</a:t>
            </a:r>
          </a:p>
          <a:p>
            <a:pPr marL="457200" indent="-457200">
              <a:buFont typeface="+mj-lt"/>
              <a:buAutoNum type="arabicPeriod"/>
            </a:pPr>
            <a:r>
              <a:rPr lang="en-US" dirty="0"/>
              <a:t>Leverage insights to inform marketing and growth strategies.</a:t>
            </a:r>
          </a:p>
          <a:p>
            <a:pPr marL="457200" indent="-457200">
              <a:buFont typeface="+mj-lt"/>
              <a:buAutoNum type="arabicPeriod"/>
            </a:pPr>
            <a:r>
              <a:rPr lang="en-US" dirty="0"/>
              <a:t>Implement targeted campaigns based on data-driven findings.</a:t>
            </a:r>
          </a:p>
          <a:p>
            <a:endParaRPr lang="en-IN" dirty="0"/>
          </a:p>
        </p:txBody>
      </p:sp>
    </p:spTree>
    <p:extLst>
      <p:ext uri="{BB962C8B-B14F-4D97-AF65-F5344CB8AC3E}">
        <p14:creationId xmlns:p14="http://schemas.microsoft.com/office/powerpoint/2010/main" val="3492351151"/>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9DAD249-BF80-48EF-9AFB-36A11BCDC2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{4D0D3325-D88E-45B3-AAFA-4678DEF1F0C5}tf56160789_win32</Template>
  <TotalTime>204</TotalTime>
  <Words>449</Words>
  <Application>Microsoft Office PowerPoint</Application>
  <PresentationFormat>Widescreen</PresentationFormat>
  <Paragraphs>58</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Bahnschrift SemiBold</vt:lpstr>
      <vt:lpstr>Bookman Old Style</vt:lpstr>
      <vt:lpstr>Calibri</vt:lpstr>
      <vt:lpstr>Franklin Gothic Book</vt:lpstr>
      <vt:lpstr>Custom</vt:lpstr>
      <vt:lpstr>PhonePe Transaction Insights</vt:lpstr>
      <vt:lpstr>Problem Statement: </vt:lpstr>
      <vt:lpstr>🛠️ Tools &amp; Technologies</vt:lpstr>
      <vt:lpstr>Techniques Used to solve the problem statement: </vt:lpstr>
      <vt:lpstr>Key Findings &amp; Insights</vt:lpstr>
      <vt:lpstr>Key Findings &amp; Insights</vt:lpstr>
      <vt:lpstr>Key Findings &amp; Insights</vt:lpstr>
      <vt:lpstr>Business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Vigneshwaran PalaniKumar</dc:creator>
  <cp:lastModifiedBy>Vigneshwaran PalaniKumar</cp:lastModifiedBy>
  <cp:revision>11</cp:revision>
  <dcterms:created xsi:type="dcterms:W3CDTF">2025-03-29T04:09:57Z</dcterms:created>
  <dcterms:modified xsi:type="dcterms:W3CDTF">2025-05-15T11:26:28Z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